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6" r:id="rId3"/>
    <p:sldId id="257" r:id="rId4"/>
    <p:sldId id="258" r:id="rId5"/>
    <p:sldId id="259" r:id="rId6"/>
    <p:sldId id="260" r:id="rId7"/>
    <p:sldId id="261" r:id="rId8"/>
  </p:sldIdLst>
  <p:sldSz cx="9144000" cy="51435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19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1619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247" y="1279525"/>
            <a:ext cx="6141156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143000" y="992222"/>
            <a:ext cx="6858000" cy="164025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45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143000" y="2701529"/>
            <a:ext cx="6858000" cy="1241822"/>
          </a:xfrm>
        </p:spPr>
        <p:txBody>
          <a:bodyPr>
            <a:normAutofit/>
          </a:bodyPr>
          <a:lstStyle>
            <a:lvl1pPr marL="0" indent="0" algn="ctr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5775" y="193834"/>
            <a:ext cx="7886700" cy="994172"/>
          </a:xfrm>
        </p:spPr>
        <p:txBody>
          <a:bodyPr anchor="ctr" anchorCtr="0">
            <a:normAutofit/>
          </a:bodyPr>
          <a:lstStyle>
            <a:lvl1pPr>
              <a:defRPr sz="1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369219"/>
            <a:ext cx="7886700" cy="3263504"/>
          </a:xfrm>
        </p:spPr>
        <p:txBody>
          <a:bodyPr>
            <a:normAutofit/>
          </a:bodyPr>
          <a:lstStyle>
            <a:lvl1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2813338"/>
            <a:ext cx="5491163" cy="608518"/>
          </a:xfrm>
        </p:spPr>
        <p:txBody>
          <a:bodyPr anchor="b">
            <a:normAutofit/>
          </a:bodyPr>
          <a:lstStyle>
            <a:lvl1pPr>
              <a:defRPr sz="3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3457521"/>
            <a:ext cx="5491163" cy="485666"/>
          </a:xfrm>
        </p:spPr>
        <p:txBody>
          <a:bodyPr>
            <a:normAutofit/>
          </a:bodyPr>
          <a:lstStyle>
            <a:lvl1pPr marL="0" indent="0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5775" y="193834"/>
            <a:ext cx="7886700" cy="994172"/>
          </a:xfrm>
        </p:spPr>
        <p:txBody>
          <a:bodyPr>
            <a:normAutofit/>
          </a:bodyPr>
          <a:lstStyle>
            <a:lvl1pPr>
              <a:defRPr sz="18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85775" y="1369219"/>
            <a:ext cx="3886200" cy="3263504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486275" y="1369219"/>
            <a:ext cx="3886200" cy="3263504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1" y="1308721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1" y="1961707"/>
            <a:ext cx="3868340" cy="268054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308721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1961707"/>
            <a:ext cx="3887391" cy="268054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074664"/>
            <a:ext cx="7886700" cy="994172"/>
          </a:xfrm>
        </p:spPr>
        <p:txBody>
          <a:bodyPr>
            <a:normAutofit/>
          </a:bodyPr>
          <a:lstStyle>
            <a:lvl1pPr algn="ctr">
              <a:defRPr sz="36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85060" y="95250"/>
            <a:ext cx="3123900" cy="1200150"/>
          </a:xfrm>
        </p:spPr>
        <p:txBody>
          <a:bodyPr anchor="ctr" anchorCtr="0">
            <a:normAutofit/>
          </a:bodyPr>
          <a:lstStyle>
            <a:lvl1pPr>
              <a:defRPr sz="1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3888000" y="574766"/>
            <a:ext cx="4363031" cy="382083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88870" y="1543050"/>
            <a:ext cx="3123900" cy="2858691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368363" y="273844"/>
            <a:ext cx="1146987" cy="4358879"/>
          </a:xfrm>
        </p:spPr>
        <p:txBody>
          <a:bodyPr vert="eaVert">
            <a:normAutofit/>
          </a:bodyPr>
          <a:lstStyle>
            <a:lvl1pPr>
              <a:defRPr sz="27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6659969" cy="4358879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28650" y="413657"/>
            <a:ext cx="7886700" cy="4169228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en-US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Air </a:t>
            </a:r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参数实验报告</a:t>
            </a:r>
            <a:endParaRPr lang="zh-CN" altLang="en-US" sz="28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p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</a:t>
            </a:r>
            <a:r>
              <a:rPr lang="en-US" altLang="zh-CN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</a:t>
            </a: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空气质量数据，变量固定为</a:t>
            </a:r>
            <a:r>
              <a:rPr lang="en-US" altLang="zh-CN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PM2.5 </a:t>
            </a: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en-US" altLang="zh-CN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O3</a:t>
            </a: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altLang="zh-CN" sz="1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本轮比较三级数据源</a:t>
            </a:r>
            <a:r>
              <a:rPr lang="en-US" altLang="zh-CN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</a:t>
            </a: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全部、每个省、每个市。</a:t>
            </a:r>
            <a:endParaRPr lang="en-US" altLang="zh-CN" sz="1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延迟天数按层级固定</a:t>
            </a:r>
            <a:r>
              <a:rPr lang="en-US" altLang="zh-CN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</a:t>
            </a: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全部</a:t>
            </a:r>
            <a:r>
              <a:rPr lang="en-US" altLang="zh-CN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3 </a:t>
            </a: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天、省级</a:t>
            </a:r>
            <a:r>
              <a:rPr lang="en-US" altLang="zh-CN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5 </a:t>
            </a: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天、市级</a:t>
            </a:r>
            <a:r>
              <a:rPr lang="en-US" altLang="zh-CN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10 </a:t>
            </a: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天。</a:t>
            </a:r>
            <a:endParaRPr lang="en-US" altLang="zh-CN" sz="1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lag_steps </a:t>
            </a: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扫描</a:t>
            </a:r>
            <a:r>
              <a:rPr lang="en-US" altLang="zh-CN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12</a:t>
            </a: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24</a:t>
            </a: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26</a:t>
            </a: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48</a:t>
            </a: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1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</a:rPr>
              <a:t>实验设置与搜索空间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08000" y="1143000"/>
            <a:ext cx="10922000" cy="1322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空气质量数据，变量固定为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PM2.5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O3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altLang="zh-CN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本轮比较三级数据源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全部、每个省、每个市。</a:t>
            </a:r>
            <a:endParaRPr lang="en-US" altLang="zh-CN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延迟天数按层级固定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全部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3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天、省级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5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天、市级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10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天。</a:t>
            </a:r>
            <a:endParaRPr lang="en-US" altLang="zh-CN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lag_steps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扫描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12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24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26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48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</a:rPr>
              <a:t>最优参数与关键结果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08000" y="1143000"/>
            <a:ext cx="10922000" cy="1938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最佳运行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air_all_delay3_lag48</a:t>
            </a:r>
            <a:endParaRPr lang="en-US" altLang="zh-CN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scope = all, lag_steps = 48, delay_days = 3</a:t>
            </a:r>
            <a:endParaRPr lang="en-US" altLang="zh-CN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station_count = 127, feature_dim = 1016</a:t>
            </a:r>
            <a:endParaRPr lang="en-US" altLang="zh-CN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CE = 6.32287766255305, EC = 8.94805201453259</a:t>
            </a:r>
            <a:endParaRPr lang="en-US" altLang="zh-CN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G_alpha_K = -563.9646645548, selected_r = 2</a:t>
            </a:r>
            <a:endParaRPr lang="en-US" altLang="zh-CN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分层最佳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all: CE=6.323, lag=48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province: CE=4.353, lag=48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city: CE=2.493, lag=48</a:t>
            </a:r>
            <a:endParaRPr lang="en-US" altLang="zh-CN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sz="2400">
                <a:latin typeface="Consolas" panose="020B0609020204030204" charset="0"/>
                <a:cs typeface="Consolas" panose="020B0609020204030204" charset="0"/>
              </a:rPr>
              <a:t>Top </a:t>
            </a:r>
            <a:r>
              <a:rPr lang="zh-CN" altLang="en-US" sz="2400">
                <a:latin typeface="Consolas" panose="020B0609020204030204" charset="0"/>
                <a:cs typeface="Consolas" panose="020B0609020204030204" charset="0"/>
              </a:rPr>
              <a:t>结果摘录</a:t>
            </a:r>
            <a:endParaRPr lang="zh-CN" altLang="en-US" sz="2400"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81000" y="1016000"/>
            <a:ext cx="11430000" cy="1383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1200">
                <a:latin typeface="Consolas" panose="020B0609020204030204" charset="0"/>
                <a:cs typeface="Consolas" panose="020B0609020204030204" charset="0"/>
              </a:rPr>
              <a:t>run_name | scope | province | city | delay_days | lag_steps | station_count | CE | EC</a:t>
            </a:r>
            <a:endParaRPr lang="en-US" altLang="en-US" sz="12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en-US" sz="1200">
                <a:latin typeface="Consolas" panose="020B0609020204030204" charset="0"/>
                <a:cs typeface="Consolas" panose="020B0609020204030204" charset="0"/>
              </a:rPr>
              <a:t>air_all_delay3_lag48 | all |  |  | 3 | 48 | 127 | 6.322877662553051 | 8.94805201453259</a:t>
            </a:r>
            <a:endParaRPr lang="en-US" altLang="en-US" sz="12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en-US" sz="1200">
                <a:latin typeface="Consolas" panose="020B0609020204030204" charset="0"/>
                <a:cs typeface="Consolas" panose="020B0609020204030204" charset="0"/>
              </a:rPr>
              <a:t>air_province_</a:t>
            </a:r>
            <a:r>
              <a:rPr lang="zh-CN" altLang="en-US" sz="1200">
                <a:latin typeface="Consolas" panose="020B0609020204030204" charset="0"/>
                <a:cs typeface="Consolas" panose="020B0609020204030204" charset="0"/>
              </a:rPr>
              <a:t>上海</a:t>
            </a:r>
            <a:r>
              <a:rPr lang="zh-CN" altLang="zh-CN" sz="1200">
                <a:latin typeface="Consolas" panose="020B0609020204030204" charset="0"/>
                <a:cs typeface="Consolas" panose="020B0609020204030204" charset="0"/>
              </a:rPr>
              <a:t>_delay5_lag48 | province | 上海市 |  | 5 | 48 | 19 | 4.3533090034339645 | 6.215039513993468</a:t>
            </a:r>
            <a:endParaRPr lang="zh-CN" altLang="zh-CN" sz="12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zh-CN" sz="1200">
                <a:latin typeface="Consolas" panose="020B0609020204030204" charset="0"/>
                <a:cs typeface="Consolas" panose="020B0609020204030204" charset="0"/>
              </a:rPr>
              <a:t>air_province_</a:t>
            </a:r>
            <a:r>
              <a:rPr lang="zh-CN" altLang="en-US" sz="1200">
                <a:latin typeface="Consolas" panose="020B0609020204030204" charset="0"/>
                <a:cs typeface="Consolas" panose="020B0609020204030204" charset="0"/>
              </a:rPr>
              <a:t>浙江</a:t>
            </a:r>
            <a:r>
              <a:rPr lang="en-US" altLang="zh-CN" sz="1200">
                <a:latin typeface="Consolas" panose="020B0609020204030204" charset="0"/>
                <a:cs typeface="Consolas" panose="020B0609020204030204" charset="0"/>
              </a:rPr>
              <a:t>_delay5_lag48 | province | </a:t>
            </a:r>
            <a:r>
              <a:rPr lang="zh-CN" altLang="en-US" sz="1200">
                <a:latin typeface="Consolas" panose="020B0609020204030204" charset="0"/>
                <a:cs typeface="Consolas" panose="020B0609020204030204" charset="0"/>
              </a:rPr>
              <a:t>浙江省</a:t>
            </a:r>
            <a:r>
              <a:rPr lang="en-US" altLang="zh-CN" sz="1200">
                <a:latin typeface="Consolas" panose="020B0609020204030204" charset="0"/>
                <a:cs typeface="Consolas" panose="020B0609020204030204" charset="0"/>
              </a:rPr>
              <a:t> |  | 5 | 48 | 44 | 4.294528615075208 | 7.415770766392088</a:t>
            </a:r>
            <a:endParaRPr lang="en-US" altLang="zh-CN" sz="12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zh-CN" sz="1200">
                <a:latin typeface="Consolas" panose="020B0609020204030204" charset="0"/>
                <a:cs typeface="Consolas" panose="020B0609020204030204" charset="0"/>
              </a:rPr>
              <a:t>air_province_</a:t>
            </a:r>
            <a:r>
              <a:rPr lang="zh-CN" altLang="en-US" sz="1200">
                <a:latin typeface="Consolas" panose="020B0609020204030204" charset="0"/>
                <a:cs typeface="Consolas" panose="020B0609020204030204" charset="0"/>
              </a:rPr>
              <a:t>江苏</a:t>
            </a:r>
            <a:r>
              <a:rPr lang="en-US" altLang="zh-CN" sz="1200">
                <a:latin typeface="Consolas" panose="020B0609020204030204" charset="0"/>
                <a:cs typeface="Consolas" panose="020B0609020204030204" charset="0"/>
              </a:rPr>
              <a:t>_delay5_lag48 | province | </a:t>
            </a:r>
            <a:r>
              <a:rPr lang="zh-CN" altLang="en-US" sz="1200">
                <a:latin typeface="Consolas" panose="020B0609020204030204" charset="0"/>
                <a:cs typeface="Consolas" panose="020B0609020204030204" charset="0"/>
              </a:rPr>
              <a:t>江苏省</a:t>
            </a:r>
            <a:r>
              <a:rPr lang="en-US" altLang="zh-CN" sz="1200">
                <a:latin typeface="Consolas" panose="020B0609020204030204" charset="0"/>
                <a:cs typeface="Consolas" panose="020B0609020204030204" charset="0"/>
              </a:rPr>
              <a:t> |  | 5 | 48 | 64 | 4.271843863496134 | 7.955771842473001</a:t>
            </a:r>
            <a:endParaRPr lang="en-US" altLang="zh-CN" sz="12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zh-CN" sz="1200">
                <a:latin typeface="Consolas" panose="020B0609020204030204" charset="0"/>
                <a:cs typeface="Consolas" panose="020B0609020204030204" charset="0"/>
              </a:rPr>
              <a:t>air_all_delay3_lag24 | all |  |  | 3 | 24 | 127 | 3.205762096022527 | 7.926990361155916</a:t>
            </a:r>
            <a:endParaRPr lang="en-US" altLang="zh-CN" sz="12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zh-CN" sz="1200">
                <a:latin typeface="Consolas" panose="020B0609020204030204" charset="0"/>
                <a:cs typeface="Consolas" panose="020B0609020204030204" charset="0"/>
              </a:rPr>
              <a:t>air_city_</a:t>
            </a:r>
            <a:r>
              <a:rPr lang="zh-CN" altLang="en-US" sz="1200">
                <a:latin typeface="Consolas" panose="020B0609020204030204" charset="0"/>
                <a:cs typeface="Consolas" panose="020B0609020204030204" charset="0"/>
              </a:rPr>
              <a:t>舟山</a:t>
            </a:r>
            <a:r>
              <a:rPr lang="en-US" altLang="zh-CN" sz="1200">
                <a:latin typeface="Consolas" panose="020B0609020204030204" charset="0"/>
                <a:cs typeface="Consolas" panose="020B0609020204030204" charset="0"/>
              </a:rPr>
              <a:t>_delay10_lag48 | city |  |  | 10 | 48 | 4 | 2.493162275173747 | 3.944131509663116</a:t>
            </a:r>
            <a:endParaRPr lang="en-US" altLang="zh-CN" sz="1200"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</a:rPr>
              <a:t>图示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air_best_ce_by_scop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00" y="1270000"/>
            <a:ext cx="5334000" cy="3810000"/>
          </a:xfrm>
          <a:prstGeom prst="rect">
            <a:avLst/>
          </a:prstGeom>
        </p:spPr>
      </p:pic>
      <p:pic>
        <p:nvPicPr>
          <p:cNvPr id="5" name="图片 4" descr="air_avg_ce_by_la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3000" y="1270000"/>
            <a:ext cx="5334000" cy="381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</a:rPr>
              <a:t>结论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08000" y="1143000"/>
            <a:ext cx="1092200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整体最优出现在全部站点、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delay=3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lag_steps=48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altLang="zh-CN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按平均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CE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看，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lag_steps=48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在三类数据源上都占优。</a:t>
            </a:r>
            <a:endParaRPr lang="en-US" altLang="zh-CN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如果后续只做展示版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notebook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，建议优先展示全部站点和省级最优结果。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​​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1316</Words>
  <Application>WPS 演示</Application>
  <PresentationFormat>宽屏</PresentationFormat>
  <Paragraphs>41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5" baseType="lpstr">
      <vt:lpstr>Arial</vt:lpstr>
      <vt:lpstr>宋体</vt:lpstr>
      <vt:lpstr>Wingdings</vt:lpstr>
      <vt:lpstr>Arial Unicode MS</vt:lpstr>
      <vt:lpstr>Arial Black</vt:lpstr>
      <vt:lpstr>微软雅黑</vt:lpstr>
      <vt:lpstr>黑体</vt:lpstr>
      <vt:lpstr>Consolas</vt:lpstr>
      <vt:lpstr>WPS​​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 </cp:lastModifiedBy>
  <cp:revision>6</cp:revision>
  <dcterms:created xsi:type="dcterms:W3CDTF">2023-07-11T07:43:00Z</dcterms:created>
  <dcterms:modified xsi:type="dcterms:W3CDTF">2026-03-26T17:18:44Z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7460948782BD4005B94B544AFECEEE52_11</vt:lpwstr>
  </property>
</Properties>
</file>